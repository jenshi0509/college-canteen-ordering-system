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nteen Ordering System" id="{FD29C492-7CB9-0F43-AB9E-3EB16E76026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74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group, topic number and faculty. Replace the bracketed placeholders with real names and enrollment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happens in a canteen today and why a database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 on the left; hardware and software needed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the user works in a web browser, PHP validates input and builds the bill, MySQL stores data and enforces rules with constraints, a trigger, a function, a procedure and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1:N Orders, Orders 1:N Order_Items, Food_Items 1:N Order_Items. So Orders and Food_Items are M:N, resolved by Order_Items. Daily_Sales is a derived summary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Total_amount in Orders is a deliberate derived column kept up to date by the trigger. unit_price in Order_Items freezes the price at order time, so later price changes do not alter old bills.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PRIMARY KEY, FOREIGN KEY with ON DELETE CASCADE, UNIQUE and CHECK. The CHECK on available_qty is what stops an order when stock is too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 three-table JOIN with GROUP BY. Right: the trigger that deducts stock. Also mention the view v_todays_orders, the function get_next_token and the procedure generate_daily_sales.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the form blocks a quantity above stock, an order is placed and a token is issued, today's orders show the status flow, then the end-of-day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table with all statuses, the revenue per category query, and the Daily_Sales table generated by the stored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built in one day, then name realistic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Order_Items, why unit_price is stored again, how the token resets daily, what happens when stock is zero, how a cancelled order is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College Canteen Ordering System  |  DBMS Project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">
    <p:bg>
      <p:bgPr>
        <a:solidFill>
          <a:srgbClr val="2B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QA">
    <p:bg>
      <p:bgPr>
        <a:solidFill>
          <a:srgbClr val="2B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College Canteen Ordering System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3474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DBMS Project  |  Topic 11</a:t>
            </a:r>
            <a:endParaRPr lang="en-US" sz="2200" dirty="0"/>
          </a:p>
        </p:txBody>
      </p:sp>
      <p:sp>
        <p:nvSpPr>
          <p:cNvPr id="4" name="Group"/>
          <p:cNvSpPr txBox="1"/>
          <p:nvPr/>
        </p:nvSpPr>
        <p:spPr>
          <a:xfrm>
            <a:off x="64008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ubmitted to"/>
          <p:cNvSpPr txBox="1"/>
          <p:nvPr/>
        </p:nvSpPr>
        <p:spPr>
          <a:xfrm>
            <a:off x="6400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</a:rPr>
              <a:t>Submitted to: </a:t>
            </a:r>
            <a:r>
              <a:rPr lang="en-US" sz="1600" dirty="0" err="1" smtClean="0">
                <a:solidFill>
                  <a:srgbClr val="D1D5DB"/>
                </a:solidFill>
              </a:rPr>
              <a:t>Yamini</a:t>
            </a:r>
            <a:r>
              <a:rPr lang="en-US" sz="1600" dirty="0" smtClean="0">
                <a:solidFill>
                  <a:srgbClr val="D1D5DB"/>
                </a:solidFill>
              </a:rPr>
              <a:t> </a:t>
            </a:r>
            <a:r>
              <a:rPr lang="en-US" sz="1600" dirty="0" err="1" smtClean="0">
                <a:solidFill>
                  <a:srgbClr val="D1D5DB"/>
                </a:solidFill>
              </a:rPr>
              <a:t>Dubey</a:t>
            </a:r>
            <a:r>
              <a:rPr lang="en-US" sz="1600" dirty="0" smtClean="0">
                <a:solidFill>
                  <a:srgbClr val="D1D5DB"/>
                </a:solidFill>
              </a:rPr>
              <a:t>, Information Technology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</a:rPr>
              <a:t>AD Patel Institute of Technology, CVM University</a:t>
            </a:r>
            <a:endParaRPr lang="en-US" sz="1600" dirty="0"/>
          </a:p>
        </p:txBody>
      </p:sp>
      <p:sp>
        <p:nvSpPr>
          <p:cNvPr id="6" name="Team card"/>
          <p:cNvSpPr/>
          <p:nvPr/>
        </p:nvSpPr>
        <p:spPr>
          <a:xfrm>
            <a:off x="7040880" y="1371600"/>
            <a:ext cx="3157005" cy="3866827"/>
          </a:xfrm>
          <a:prstGeom prst="roundRect">
            <a:avLst>
              <a:gd name="adj" fmla="val 3125"/>
            </a:avLst>
          </a:prstGeom>
          <a:solidFill>
            <a:srgbClr val="3A2A22"/>
          </a:solidFill>
          <a:ln w="12700">
            <a:solidFill>
              <a:srgbClr val="3A2A22"/>
            </a:solidFill>
            <a:prstDash val="solid"/>
          </a:ln>
        </p:spPr>
      </p:sp>
      <p:sp>
        <p:nvSpPr>
          <p:cNvPr id="7" name="Team heading"/>
          <p:cNvSpPr txBox="1"/>
          <p:nvPr/>
        </p:nvSpPr>
        <p:spPr>
          <a:xfrm>
            <a:off x="7315200" y="1554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Team Members</a:t>
            </a:r>
            <a:endParaRPr lang="en-US" sz="2200" dirty="0"/>
          </a:p>
        </p:txBody>
      </p:sp>
      <p:sp>
        <p:nvSpPr>
          <p:cNvPr id="8" name="Team list"/>
          <p:cNvSpPr txBox="1"/>
          <p:nvPr/>
        </p:nvSpPr>
        <p:spPr>
          <a:xfrm>
            <a:off x="7315200" y="2583051"/>
            <a:ext cx="3435458" cy="269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chemeClr val="bg1"/>
                </a:solidFill>
              </a:rPr>
              <a:t>Jenshi</a:t>
            </a:r>
            <a:r>
              <a:rPr lang="en-US" sz="1500" b="1" dirty="0" smtClean="0">
                <a:solidFill>
                  <a:schemeClr val="bg1"/>
                </a:solidFill>
              </a:rPr>
              <a:t> Patel</a:t>
            </a:r>
            <a:r>
              <a:rPr lang="en-US" sz="1500" b="1" dirty="0" smtClean="0">
                <a:solidFill>
                  <a:schemeClr val="bg1"/>
                </a:solidFill>
              </a:rPr>
              <a:t>  </a:t>
            </a:r>
            <a:r>
              <a:rPr lang="en-US" sz="1500" b="1" dirty="0">
                <a:solidFill>
                  <a:schemeClr val="bg1"/>
                </a:solidFill>
              </a:rPr>
              <a:t>|  </a:t>
            </a:r>
            <a:r>
              <a:rPr lang="en-US" sz="1500" b="1" dirty="0" smtClean="0">
                <a:solidFill>
                  <a:schemeClr val="bg1"/>
                </a:solidFill>
              </a:rPr>
              <a:t>12502080601047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 err="1" smtClean="0">
                <a:solidFill>
                  <a:schemeClr val="bg1"/>
                </a:solidFill>
              </a:rPr>
              <a:t>Dharti</a:t>
            </a:r>
            <a:r>
              <a:rPr lang="en-US" sz="1500" b="1" dirty="0" smtClean="0">
                <a:solidFill>
                  <a:schemeClr val="bg1"/>
                </a:solidFill>
              </a:rPr>
              <a:t> Patel</a:t>
            </a:r>
            <a:r>
              <a:rPr lang="en-US" sz="1500" b="1" dirty="0" smtClean="0">
                <a:solidFill>
                  <a:schemeClr val="bg1"/>
                </a:solidFill>
              </a:rPr>
              <a:t> </a:t>
            </a:r>
            <a:r>
              <a:rPr lang="en-US" sz="1500" b="1" dirty="0">
                <a:solidFill>
                  <a:schemeClr val="bg1"/>
                </a:solidFill>
              </a:rPr>
              <a:t>|  </a:t>
            </a:r>
            <a:r>
              <a:rPr lang="en-US" sz="1500" b="1" dirty="0" smtClean="0">
                <a:solidFill>
                  <a:schemeClr val="bg1"/>
                </a:solidFill>
              </a:rPr>
              <a:t>12502080601022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 and Motivation</a:t>
            </a:r>
            <a:endParaRPr lang="en-US" sz="3600" dirty="0"/>
          </a:p>
        </p:txBody>
      </p:sp>
      <p:sp>
        <p:nvSpPr>
          <p:cNvPr id="4" name="Current manual system card"/>
          <p:cNvSpPr/>
          <p:nvPr/>
        </p:nvSpPr>
        <p:spPr>
          <a:xfrm>
            <a:off x="54864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urrent manual system circle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Current manual syst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1955902"/>
            <a:ext cx="294437" cy="294437"/>
          </a:xfrm>
          <a:prstGeom prst="rect">
            <a:avLst/>
          </a:prstGeom>
        </p:spPr>
      </p:pic>
      <p:sp>
        <p:nvSpPr>
          <p:cNvPr id="7" name="Current manual system"/>
          <p:cNvSpPr txBox="1"/>
          <p:nvPr/>
        </p:nvSpPr>
        <p:spPr>
          <a:xfrm>
            <a:off x="169164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Current manual system</a:t>
            </a:r>
            <a:endParaRPr lang="en-US" sz="2200" dirty="0"/>
          </a:p>
        </p:txBody>
      </p:sp>
      <p:sp>
        <p:nvSpPr>
          <p:cNvPr id="8" name="Current manual system list"/>
          <p:cNvSpPr txBox="1"/>
          <p:nvPr/>
        </p:nvSpPr>
        <p:spPr>
          <a:xfrm>
            <a:off x="914400" y="27432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Paper slips and cash cause long queues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Orders get mixed up or lost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record of daily sales or best sellers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Stock runs out without any warning</a:t>
            </a:r>
            <a:endParaRPr lang="en-US" sz="2000" dirty="0"/>
          </a:p>
        </p:txBody>
      </p:sp>
      <p:sp>
        <p:nvSpPr>
          <p:cNvPr id="9" name="Need for a database system card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eed for a database system circle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Need for a database syst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222" y="1955902"/>
            <a:ext cx="294437" cy="294437"/>
          </a:xfrm>
          <a:prstGeom prst="rect">
            <a:avLst/>
          </a:prstGeom>
        </p:spPr>
      </p:pic>
      <p:sp>
        <p:nvSpPr>
          <p:cNvPr id="12" name="Need for a database system"/>
          <p:cNvSpPr txBox="1"/>
          <p:nvPr/>
        </p:nvSpPr>
        <p:spPr>
          <a:xfrm>
            <a:off x="745236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Need for a database system</a:t>
            </a:r>
            <a:endParaRPr lang="en-US" sz="2200" dirty="0"/>
          </a:p>
        </p:txBody>
      </p:sp>
      <p:sp>
        <p:nvSpPr>
          <p:cNvPr id="13" name="Need for a database system list"/>
          <p:cNvSpPr txBox="1"/>
          <p:nvPr/>
        </p:nvSpPr>
        <p:spPr>
          <a:xfrm>
            <a:off x="6675120" y="27432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order stored with a daily token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Bill calculated automatically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Stock reduced on each order, low-stock alert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End-of-day sales report in one call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 and Requirements</a:t>
            </a:r>
            <a:endParaRPr lang="en-US" sz="3600" dirty="0"/>
          </a:p>
        </p:txBody>
      </p:sp>
      <p:sp>
        <p:nvSpPr>
          <p:cNvPr id="4" name="Objective 1 badge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Objective 1 number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Objective 1"/>
          <p:cNvSpPr txBox="1"/>
          <p:nvPr/>
        </p:nvSpPr>
        <p:spPr>
          <a:xfrm>
            <a:off x="1417320" y="1371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Replace paper slips with a database-backed order flow</a:t>
            </a:r>
            <a:endParaRPr lang="en-US" sz="1800" dirty="0"/>
          </a:p>
        </p:txBody>
      </p:sp>
      <p:sp>
        <p:nvSpPr>
          <p:cNvPr id="7" name="Objective 2 badge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bjective 2 number"/>
          <p:cNvSpPr txBox="1"/>
          <p:nvPr/>
        </p:nvSpPr>
        <p:spPr>
          <a:xfrm>
            <a:off x="5486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Objective 2"/>
          <p:cNvSpPr txBox="1"/>
          <p:nvPr/>
        </p:nvSpPr>
        <p:spPr>
          <a:xfrm>
            <a:off x="1417320" y="2514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Issue a token per order, restarting every day</a:t>
            </a:r>
            <a:endParaRPr lang="en-US" sz="1800" dirty="0"/>
          </a:p>
        </p:txBody>
      </p:sp>
      <p:sp>
        <p:nvSpPr>
          <p:cNvPr id="10" name="Objective 3 badge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bjective 3 number"/>
          <p:cNvSpPr txBox="1"/>
          <p:nvPr/>
        </p:nvSpPr>
        <p:spPr>
          <a:xfrm>
            <a:off x="548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Objective 3"/>
          <p:cNvSpPr txBox="1"/>
          <p:nvPr/>
        </p:nvSpPr>
        <p:spPr>
          <a:xfrm>
            <a:off x="1417320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Track each order from Pending to Collected</a:t>
            </a:r>
            <a:endParaRPr lang="en-US" sz="1800" dirty="0"/>
          </a:p>
        </p:txBody>
      </p:sp>
      <p:sp>
        <p:nvSpPr>
          <p:cNvPr id="13" name="Objective 4 badge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Objective 4 number"/>
          <p:cNvSpPr txBox="1"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Objective 4"/>
          <p:cNvSpPr txBox="1"/>
          <p:nvPr/>
        </p:nvSpPr>
        <p:spPr>
          <a:xfrm>
            <a:off x="1417320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Report daily orders, revenue and best sellers</a:t>
            </a:r>
            <a:endParaRPr lang="en-US" sz="1800" dirty="0"/>
          </a:p>
        </p:txBody>
      </p:sp>
      <p:sp>
        <p:nvSpPr>
          <p:cNvPr id="16" name="Hardware card"/>
          <p:cNvSpPr/>
          <p:nvPr/>
        </p:nvSpPr>
        <p:spPr>
          <a:xfrm>
            <a:off x="6858000" y="1463040"/>
            <a:ext cx="4754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Hardware heading"/>
          <p:cNvSpPr txBox="1"/>
          <p:nvPr/>
        </p:nvSpPr>
        <p:spPr>
          <a:xfrm>
            <a:off x="713232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Hardware</a:t>
            </a:r>
            <a:endParaRPr lang="en-US" sz="2000" dirty="0"/>
          </a:p>
        </p:txBody>
      </p:sp>
      <p:sp>
        <p:nvSpPr>
          <p:cNvPr id="18" name="Hardware list"/>
          <p:cNvSpPr txBox="1"/>
          <p:nvPr/>
        </p:nvSpPr>
        <p:spPr>
          <a:xfrm>
            <a:off x="7132320" y="21488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Intel i3 or above, 4 GB RAM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500 MB free disk space</a:t>
            </a:r>
            <a:endParaRPr lang="en-US" sz="1600" dirty="0"/>
          </a:p>
        </p:txBody>
      </p:sp>
      <p:sp>
        <p:nvSpPr>
          <p:cNvPr id="19" name="Software card"/>
          <p:cNvSpPr/>
          <p:nvPr/>
        </p:nvSpPr>
        <p:spPr>
          <a:xfrm>
            <a:off x="6858000" y="3657600"/>
            <a:ext cx="475488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oftware heading"/>
          <p:cNvSpPr txBox="1"/>
          <p:nvPr/>
        </p:nvSpPr>
        <p:spPr>
          <a:xfrm>
            <a:off x="713232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Software</a:t>
            </a:r>
            <a:endParaRPr lang="en-US" sz="2000" dirty="0"/>
          </a:p>
        </p:txBody>
      </p:sp>
      <p:sp>
        <p:nvSpPr>
          <p:cNvPr id="21" name="Software list"/>
          <p:cNvSpPr txBox="1"/>
          <p:nvPr/>
        </p:nvSpPr>
        <p:spPr>
          <a:xfrm>
            <a:off x="7132320" y="434340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Windows 10/11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XAMPP: Apache, PHP, MySQL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phpMyAdmin and Chrome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</a:t>
            </a:r>
            <a:endParaRPr lang="en-US" sz="3600" dirty="0"/>
          </a:p>
        </p:txBody>
      </p:sp>
      <p:pic>
        <p:nvPicPr>
          <p:cNvPr id="4" name="Image 0" descr="Three layer architecture: browser, Apache with PHP, MySQL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10515600" cy="3854692"/>
          </a:xfrm>
          <a:prstGeom prst="rect">
            <a:avLst/>
          </a:prstGeom>
        </p:spPr>
      </p:pic>
      <p:sp>
        <p:nvSpPr>
          <p:cNvPr id="5" name="Architecture takeaway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accent4"/>
                </a:solidFill>
              </a:rPr>
              <a:t>The business rules live in the database, so any front end can reuse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Entity-Relationship Diagram</a:t>
            </a:r>
            <a:endParaRPr lang="en-US" sz="3600" dirty="0"/>
          </a:p>
        </p:txBody>
      </p:sp>
      <p:pic>
        <p:nvPicPr>
          <p:cNvPr id="4" name="Image 0" descr="ER diagram with five entities and cardinalit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80160"/>
            <a:ext cx="9235440" cy="47361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Relational Schema and Normalization</a:t>
            </a:r>
            <a:endParaRPr lang="en-US" sz="3600" dirty="0"/>
          </a:p>
        </p:txBody>
      </p:sp>
      <p:graphicFrame>
        <p:nvGraphicFramePr>
          <p:cNvPr id="7" name="Schem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384048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5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Keys and constraints</a:t>
                      </a:r>
                      <a:endParaRPr lang="en-US" sz="15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Students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student_id; UNIQUE enrollment_no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Food_Items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item_id; CHECK price &gt; 0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order_id; FK student_id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order_item_id; FK order_id, item_id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Daily_Sales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PK sale_date</a:t>
                      </a:r>
                      <a:endParaRPr lang="en-US" sz="1400" dirty="0"/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1NF card"/>
          <p:cNvSpPr/>
          <p:nvPr/>
        </p:nvSpPr>
        <p:spPr>
          <a:xfrm>
            <a:off x="7315200" y="1463040"/>
            <a:ext cx="4297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1NF label"/>
          <p:cNvSpPr txBox="1"/>
          <p:nvPr/>
        </p:nvSpPr>
        <p:spPr>
          <a:xfrm>
            <a:off x="7543800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1NF</a:t>
            </a:r>
            <a:endParaRPr lang="en-US" sz="3000" dirty="0"/>
          </a:p>
        </p:txBody>
      </p:sp>
      <p:sp>
        <p:nvSpPr>
          <p:cNvPr id="3" name="1NF text"/>
          <p:cNvSpPr txBox="1"/>
          <p:nvPr/>
        </p:nvSpPr>
        <p:spPr>
          <a:xfrm>
            <a:off x="8641080" y="16002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Atomic values, no repeating groups</a:t>
            </a:r>
            <a:endParaRPr lang="en-US" sz="1600" dirty="0"/>
          </a:p>
        </p:txBody>
      </p:sp>
      <p:sp>
        <p:nvSpPr>
          <p:cNvPr id="8" name="2NF card"/>
          <p:cNvSpPr/>
          <p:nvPr/>
        </p:nvSpPr>
        <p:spPr>
          <a:xfrm>
            <a:off x="7315200" y="3017520"/>
            <a:ext cx="4297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2NF label"/>
          <p:cNvSpPr txBox="1"/>
          <p:nvPr/>
        </p:nvSpPr>
        <p:spPr>
          <a:xfrm>
            <a:off x="7543800" y="3154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2NF</a:t>
            </a:r>
            <a:endParaRPr lang="en-US" sz="3000" dirty="0"/>
          </a:p>
        </p:txBody>
      </p:sp>
      <p:sp>
        <p:nvSpPr>
          <p:cNvPr id="10" name="2NF text"/>
          <p:cNvSpPr txBox="1"/>
          <p:nvPr/>
        </p:nvSpPr>
        <p:spPr>
          <a:xfrm>
            <a:off x="8641080" y="31546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 partial dependency on the key</a:t>
            </a:r>
            <a:endParaRPr lang="en-US" sz="1600" dirty="0"/>
          </a:p>
        </p:txBody>
      </p:sp>
      <p:sp>
        <p:nvSpPr>
          <p:cNvPr id="11" name="3NF card"/>
          <p:cNvSpPr/>
          <p:nvPr/>
        </p:nvSpPr>
        <p:spPr>
          <a:xfrm>
            <a:off x="7315200" y="4572000"/>
            <a:ext cx="4297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3NF label"/>
          <p:cNvSpPr txBox="1"/>
          <p:nvPr/>
        </p:nvSpPr>
        <p:spPr>
          <a:xfrm>
            <a:off x="7543800" y="4709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3NF</a:t>
            </a:r>
            <a:endParaRPr lang="en-US" sz="3000" dirty="0"/>
          </a:p>
        </p:txBody>
      </p:sp>
      <p:sp>
        <p:nvSpPr>
          <p:cNvPr id="13" name="3NF text"/>
          <p:cNvSpPr txBox="1"/>
          <p:nvPr/>
        </p:nvSpPr>
        <p:spPr>
          <a:xfrm>
            <a:off x="8641080" y="4709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 transitive dependency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DDL: Keys and CHECK Constraints</a:t>
            </a:r>
            <a:endParaRPr lang="en-US" sz="3600" dirty="0"/>
          </a:p>
        </p:txBody>
      </p:sp>
      <p:sp>
        <p:nvSpPr>
          <p:cNvPr id="4" name="Food_Items DDL panel"/>
          <p:cNvSpPr/>
          <p:nvPr/>
        </p:nvSpPr>
        <p:spPr>
          <a:xfrm>
            <a:off x="548640" y="137160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5" name="Food_Items DDL"/>
          <p:cNvSpPr txBox="1"/>
          <p:nvPr/>
        </p:nvSpPr>
        <p:spPr>
          <a:xfrm>
            <a:off x="731520" y="15087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Food_Items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item_id INT AUTO_INCREMENT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item_name VARCHAR(50)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NOT NULL UNIQUE,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 VARCHAR(20),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 DECIMAL(6,2)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(price &gt; 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available_qty 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(available_qty &gt;= 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Order_Items DDL panel"/>
          <p:cNvSpPr/>
          <p:nvPr/>
        </p:nvSpPr>
        <p:spPr>
          <a:xfrm>
            <a:off x="5943600" y="1371600"/>
            <a:ext cx="5669280" cy="4297680"/>
          </a:xfrm>
          <a:prstGeom prst="roundRect">
            <a:avLst>
              <a:gd name="adj" fmla="val 2128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7" name="Order_Items DDL"/>
          <p:cNvSpPr txBox="1"/>
          <p:nvPr/>
        </p:nvSpPr>
        <p:spPr>
          <a:xfrm>
            <a:off x="6126480" y="15087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Order_Items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order_item_id INT PRIMARY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AUTO_INCREMENT,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 INT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item_id  INT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(quantity &gt; 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unit_price DECIMAL(6,2),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(order_id)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Orders(order_id)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DELETE CASCADE,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(item_id)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Food_Items(item_id)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DDL note"/>
          <p:cNvSpPr txBox="1"/>
          <p:nvPr/>
        </p:nvSpPr>
        <p:spPr>
          <a:xfrm>
            <a:off x="548640" y="4663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Orders also has UNIQUE (order_date, token_no), so a token is never repeated on the same 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Queries, Trigger and Procedure</a:t>
            </a:r>
            <a:endParaRPr lang="en-US" sz="3600" dirty="0"/>
          </a:p>
        </p:txBody>
      </p:sp>
      <p:sp>
        <p:nvSpPr>
          <p:cNvPr id="4" name="Query code panel"/>
          <p:cNvSpPr/>
          <p:nvPr/>
        </p:nvSpPr>
        <p:spPr>
          <a:xfrm>
            <a:off x="548640" y="137160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5" name="Query code"/>
          <p:cNvSpPr txBox="1"/>
          <p:nvPr/>
        </p:nvSpPr>
        <p:spPr>
          <a:xfrm>
            <a:off x="731520" y="15087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f.category,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SUM(oi.quantity) AS units,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SUM(oi.quantity*oi.unit_price)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revenue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Order_Items oi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Food_Items 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oi.item_id = f.item_id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oi.order_id = o.order_id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o.status &lt;&gt; 'Cancelled'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f.category;</a:t>
            </a:r>
            <a:endParaRPr lang="en-US" sz="1400" dirty="0"/>
          </a:p>
        </p:txBody>
      </p:sp>
      <p:sp>
        <p:nvSpPr>
          <p:cNvPr id="6" name="Trigger code panel"/>
          <p:cNvSpPr/>
          <p:nvPr/>
        </p:nvSpPr>
        <p:spPr>
          <a:xfrm>
            <a:off x="6309360" y="137160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7" name="Trigger code"/>
          <p:cNvSpPr txBox="1"/>
          <p:nvPr/>
        </p:nvSpPr>
        <p:spPr>
          <a:xfrm>
            <a:off x="6492240" y="15087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trg_after_order_item_insert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Order_Items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Food_Items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available_qty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available_qty - NEW.quantity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item_id = NEW.item_id;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also updates Orders total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400" dirty="0"/>
          </a:p>
        </p:txBody>
      </p:sp>
      <p:sp>
        <p:nvSpPr>
          <p:cNvPr id="8" name="Other objects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Also in the database: </a:t>
            </a:r>
            <a:r>
              <a:rPr lang="en-US" sz="1800" dirty="0">
                <a:solidFill>
                  <a:schemeClr val="tx1"/>
                </a:solidFill>
              </a:rPr>
              <a:t>view v_todays_orders, function get_next_token(), procedure generate_daily_sales(date)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Demonstration</a:t>
            </a:r>
            <a:endParaRPr lang="en-US" sz="3600" dirty="0"/>
          </a:p>
        </p:txBody>
      </p:sp>
      <p:pic>
        <p:nvPicPr>
          <p:cNvPr id="4" name="Image 0" descr="Order form blocking a quantity above st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486400" cy="2383319"/>
          </a:xfrm>
          <a:prstGeom prst="rect">
            <a:avLst/>
          </a:prstGeom>
        </p:spPr>
      </p:pic>
      <p:sp>
        <p:nvSpPr>
          <p:cNvPr id="5" name="Caption Order form: quantity above stock is blocked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Order form: quantity above stock is blocked</a:t>
            </a:r>
            <a:endParaRPr lang="en-US" sz="1200" dirty="0"/>
          </a:p>
        </p:txBody>
      </p:sp>
      <p:pic>
        <p:nvPicPr>
          <p:cNvPr id="6" name="Image 1" descr="Order placed with token numb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0520"/>
            <a:ext cx="5486400" cy="753006"/>
          </a:xfrm>
          <a:prstGeom prst="rect">
            <a:avLst/>
          </a:prstGeom>
        </p:spPr>
      </p:pic>
      <p:sp>
        <p:nvSpPr>
          <p:cNvPr id="7" name="Caption Order placed: token number and total"/>
          <p:cNvSpPr txBox="1"/>
          <p:nvPr/>
        </p:nvSpPr>
        <p:spPr>
          <a:xfrm>
            <a:off x="54864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Order placed: token number and total</a:t>
            </a:r>
            <a:endParaRPr lang="en-US" sz="1200" dirty="0"/>
          </a:p>
        </p:txBody>
      </p:sp>
      <p:pic>
        <p:nvPicPr>
          <p:cNvPr id="8" name="Image 2" descr="Today's orders with status butt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25880"/>
            <a:ext cx="5212080" cy="2631035"/>
          </a:xfrm>
          <a:prstGeom prst="rect">
            <a:avLst/>
          </a:prstGeom>
        </p:spPr>
      </p:pic>
      <p:sp>
        <p:nvSpPr>
          <p:cNvPr id="9" name="Caption Today&amp;apos;s orders: status flow and cancel"/>
          <p:cNvSpPr txBox="1"/>
          <p:nvPr/>
        </p:nvSpPr>
        <p:spPr>
          <a:xfrm>
            <a:off x="6400800" y="3977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Today's orders: status flow and cancel</a:t>
            </a:r>
            <a:endParaRPr lang="en-US" sz="1200" dirty="0"/>
          </a:p>
        </p:txBody>
      </p:sp>
      <p:pic>
        <p:nvPicPr>
          <p:cNvPr id="10" name="Image 3" descr="Sales report card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480560"/>
            <a:ext cx="5212080" cy="1159013"/>
          </a:xfrm>
          <a:prstGeom prst="rect">
            <a:avLst/>
          </a:prstGeom>
        </p:spPr>
      </p:pic>
      <p:sp>
        <p:nvSpPr>
          <p:cNvPr id="11" name="Caption End-of-day sales report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End-of-day sales report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Database Snapshots and Query Results</a:t>
            </a:r>
            <a:endParaRPr lang="en-US" sz="3600" dirty="0"/>
          </a:p>
        </p:txBody>
      </p:sp>
      <p:pic>
        <p:nvPicPr>
          <p:cNvPr id="4" name="Image 0" descr="Orders table in phpMyAdm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937760" cy="4452444"/>
          </a:xfrm>
          <a:prstGeom prst="rect">
            <a:avLst/>
          </a:prstGeom>
        </p:spPr>
      </p:pic>
      <p:sp>
        <p:nvSpPr>
          <p:cNvPr id="5" name="Caption orders table: 22 rows, all statuses"/>
          <p:cNvSpPr txBox="1"/>
          <p:nvPr/>
        </p:nvSpPr>
        <p:spPr>
          <a:xfrm>
            <a:off x="548640" y="5852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orders table: 22 rows, all statuses</a:t>
            </a:r>
            <a:endParaRPr lang="en-US" sz="1200" dirty="0"/>
          </a:p>
        </p:txBody>
      </p:sp>
      <p:pic>
        <p:nvPicPr>
          <p:cNvPr id="6" name="Image 1" descr="Revenue per category query res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371600"/>
            <a:ext cx="5760720" cy="1828800"/>
          </a:xfrm>
          <a:prstGeom prst="rect">
            <a:avLst/>
          </a:prstGeom>
        </p:spPr>
      </p:pic>
      <p:sp>
        <p:nvSpPr>
          <p:cNvPr id="7" name="Caption Q2: revenue per category (GROUP BY)"/>
          <p:cNvSpPr txBox="1"/>
          <p:nvPr/>
        </p:nvSpPr>
        <p:spPr>
          <a:xfrm>
            <a:off x="5852160" y="3246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Q2: revenue per category (GROUP BY)</a:t>
            </a:r>
            <a:endParaRPr lang="en-US" sz="1200" dirty="0"/>
          </a:p>
        </p:txBody>
      </p:sp>
      <p:pic>
        <p:nvPicPr>
          <p:cNvPr id="8" name="Image 2" descr="Daily_Sales 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840480"/>
            <a:ext cx="5760720" cy="953762"/>
          </a:xfrm>
          <a:prstGeom prst="rect">
            <a:avLst/>
          </a:prstGeom>
        </p:spPr>
      </p:pic>
      <p:sp>
        <p:nvSpPr>
          <p:cNvPr id="9" name="Caption daily_sales filled by the stored procedure"/>
          <p:cNvSpPr txBox="1"/>
          <p:nvPr/>
        </p:nvSpPr>
        <p:spPr>
          <a:xfrm>
            <a:off x="5852160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daily_sales filled by the stored procedure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Conclusion and Future Scope</a:t>
            </a:r>
            <a:endParaRPr lang="en-US" sz="3600" dirty="0"/>
          </a:p>
        </p:txBody>
      </p:sp>
      <p:sp>
        <p:nvSpPr>
          <p:cNvPr id="4" name="Stat tables in 3NF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number tables in 3NF"/>
          <p:cNvSpPr txBox="1"/>
          <p:nvPr/>
        </p:nvSpPr>
        <p:spPr>
          <a:xfrm>
            <a:off x="731520" y="1463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6" name="Stat label tables in 3NF"/>
          <p:cNvSpPr txBox="1"/>
          <p:nvPr/>
        </p:nvSpPr>
        <p:spPr>
          <a:xfrm>
            <a:off x="1920240" y="1463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tables in 3NF</a:t>
            </a:r>
            <a:endParaRPr lang="en-US" sz="1800" dirty="0"/>
          </a:p>
        </p:txBody>
      </p:sp>
      <p:sp>
        <p:nvSpPr>
          <p:cNvPr id="7" name="Stat analytical queries"/>
          <p:cNvSpPr/>
          <p:nvPr/>
        </p:nvSpPr>
        <p:spPr>
          <a:xfrm>
            <a:off x="4297680" y="13716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number analytical queries"/>
          <p:cNvSpPr txBox="1"/>
          <p:nvPr/>
        </p:nvSpPr>
        <p:spPr>
          <a:xfrm>
            <a:off x="4480560" y="1463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</a:t>
            </a:r>
            <a:endParaRPr lang="en-US" sz="5400" dirty="0"/>
          </a:p>
        </p:txBody>
      </p:sp>
      <p:sp>
        <p:nvSpPr>
          <p:cNvPr id="9" name="Stat label analytical queries"/>
          <p:cNvSpPr txBox="1"/>
          <p:nvPr/>
        </p:nvSpPr>
        <p:spPr>
          <a:xfrm>
            <a:off x="5669280" y="1463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analytical queries</a:t>
            </a:r>
            <a:endParaRPr lang="en-US" sz="1800" dirty="0"/>
          </a:p>
        </p:txBody>
      </p:sp>
      <p:sp>
        <p:nvSpPr>
          <p:cNvPr id="10" name="Stat web pages"/>
          <p:cNvSpPr/>
          <p:nvPr/>
        </p:nvSpPr>
        <p:spPr>
          <a:xfrm>
            <a:off x="8046720" y="13716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number web pages"/>
          <p:cNvSpPr txBox="1"/>
          <p:nvPr/>
        </p:nvSpPr>
        <p:spPr>
          <a:xfrm>
            <a:off x="8229600" y="1463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12" name="Stat label web pages"/>
          <p:cNvSpPr txBox="1"/>
          <p:nvPr/>
        </p:nvSpPr>
        <p:spPr>
          <a:xfrm>
            <a:off x="9418320" y="1463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web pages</a:t>
            </a:r>
            <a:endParaRPr lang="en-US" sz="1800" dirty="0"/>
          </a:p>
        </p:txBody>
      </p:sp>
      <p:sp>
        <p:nvSpPr>
          <p:cNvPr id="13" name="Achieved heading"/>
          <p:cNvSpPr txBox="1"/>
          <p:nvPr/>
        </p:nvSpPr>
        <p:spPr>
          <a:xfrm>
            <a:off x="54864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Achieved</a:t>
            </a:r>
            <a:endParaRPr lang="en-US" sz="2200" dirty="0"/>
          </a:p>
        </p:txBody>
      </p:sp>
      <p:sp>
        <p:nvSpPr>
          <p:cNvPr id="14" name="Achieved list"/>
          <p:cNvSpPr txBox="1"/>
          <p:nvPr/>
        </p:nvSpPr>
        <p:spPr>
          <a:xfrm>
            <a:off x="548640" y="356616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Working order, token and status flow in the browser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Stock and totals kept correct by a trigger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Daily sales report from a stored procedure</a:t>
            </a:r>
            <a:endParaRPr lang="en-US" sz="1800" dirty="0"/>
          </a:p>
        </p:txBody>
      </p:sp>
      <p:sp>
        <p:nvSpPr>
          <p:cNvPr id="15" name="Future heading"/>
          <p:cNvSpPr txBox="1"/>
          <p:nvPr/>
        </p:nvSpPr>
        <p:spPr>
          <a:xfrm>
            <a:off x="630936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6" name="Future list"/>
          <p:cNvSpPr txBox="1"/>
          <p:nvPr/>
        </p:nvSpPr>
        <p:spPr>
          <a:xfrm>
            <a:off x="6309360" y="356616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Student login and mobile 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Prepaid wallet and online payment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Peak-hour analytics dashboard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Student feedback and ratings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 and Answers</a:t>
            </a:r>
            <a:endParaRPr lang="en-US" sz="5400" dirty="0"/>
          </a:p>
        </p:txBody>
      </p:sp>
      <p:sp>
        <p:nvSpPr>
          <p:cNvPr id="3" name="Thank you"/>
          <p:cNvSpPr txBox="1"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teen">
  <a:themeElements>
    <a:clrScheme name="Canteen">
      <a:dk1>
        <a:srgbClr val="1F1A17"/>
      </a:dk1>
      <a:lt1>
        <a:srgbClr val="FFFFFF"/>
      </a:lt1>
      <a:dk2>
        <a:srgbClr val="2B1D16"/>
      </a:dk2>
      <a:lt2>
        <a:srgbClr val="F3F4F6"/>
      </a:lt2>
      <a:accent1>
        <a:srgbClr val="D8452B"/>
      </a:accent1>
      <a:accent2>
        <a:srgbClr val="F2A93B"/>
      </a:accent2>
      <a:accent3>
        <a:srgbClr val="2E7D6B"/>
      </a:accent3>
      <a:accent4>
        <a:srgbClr val="4A5568"/>
      </a:accent4>
      <a:accent5>
        <a:srgbClr val="8C3B2A"/>
      </a:accent5>
      <a:accent6>
        <a:srgbClr val="6B7280"/>
      </a:accent6>
      <a:hlink>
        <a:srgbClr val="D8452B"/>
      </a:hlink>
      <a:folHlink>
        <a:srgbClr val="8C3B2A"/>
      </a:folHlink>
    </a:clrScheme>
    <a:fontScheme name="Cant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933</Words>
  <Application>Microsoft Office PowerPoint</Application>
  <PresentationFormat>Widescreen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Canteen</vt:lpstr>
      <vt:lpstr>College Canteen Ordering System</vt:lpstr>
      <vt:lpstr>Problem Statement and Motivation</vt:lpstr>
      <vt:lpstr>Objectives and Requirements</vt:lpstr>
      <vt:lpstr>System Architecture</vt:lpstr>
      <vt:lpstr>Entity-Relationship Diagram</vt:lpstr>
      <vt:lpstr>Relational Schema and Normalization</vt:lpstr>
      <vt:lpstr>DDL: Keys and CHECK Constraints</vt:lpstr>
      <vt:lpstr>Queries, Trigger and Procedure</vt:lpstr>
      <vt:lpstr>System Demonstration</vt:lpstr>
      <vt:lpstr>Database Snapshots and Query Results</vt:lpstr>
      <vt:lpstr>Conclusion and Future Scope</vt:lpstr>
      <vt:lpstr>Questions and Answers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Canteen Ordering System</dc:title>
  <dc:subject>PptxGenJS Presentation</dc:subject>
  <dc:creator>PptxGenJS</dc:creator>
  <cp:lastModifiedBy>Minesh Patel</cp:lastModifiedBy>
  <cp:revision>2</cp:revision>
  <dcterms:created xsi:type="dcterms:W3CDTF">2026-10-27T01:05:27Z</dcterms:created>
  <dcterms:modified xsi:type="dcterms:W3CDTF">2026-10-27T01:41:28Z</dcterms:modified>
</cp:coreProperties>
</file>